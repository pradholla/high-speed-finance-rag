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High-Speed Financial Document RAG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FE524 Presentation · Stevens Institute of Technology</a:t>
            </a:r>
          </a:p>
          <a:p>
            <a:pPr>
              <a:defRPr sz="2000"/>
            </a:pPr>
            <a:r>
              <a:t>A simple, citation-grounded question answering system for SEC filings</a:t>
            </a:r>
          </a:p>
          <a:p>
            <a:pPr>
              <a:defRPr sz="2000"/>
            </a:pPr>
            <a:r>
              <a:t>Pradhyumna Nagaraja Holla</a:t>
            </a:r>
          </a:p>
          <a:p>
            <a:pPr>
              <a:defRPr sz="2000"/>
            </a:pPr>
            <a:r>
              <a:t>Core Architect &amp; Data Pipeline</a:t>
            </a:r>
          </a:p>
          <a:p>
            <a:pPr>
              <a:defRPr sz="2000"/>
            </a:pPr>
            <a:r>
              <a:t>Pallavi Maralla Satish</a:t>
            </a:r>
          </a:p>
          <a:p>
            <a:pPr>
              <a:defRPr sz="2000"/>
            </a:pPr>
            <a:r>
              <a:t>Prompt Engineering &amp; Generation</a:t>
            </a:r>
          </a:p>
          <a:p>
            <a:pPr>
              <a:defRPr sz="2000"/>
            </a:pPr>
            <a:r>
              <a:t>Pratheek Prakash</a:t>
            </a:r>
          </a:p>
          <a:p>
            <a:pPr>
              <a:defRPr sz="2000"/>
            </a:pPr>
            <a:r>
              <a:t>Retrieval Evaluation</a:t>
            </a:r>
          </a:p>
          <a:p>
            <a:pPr>
              <a:defRPr sz="2000"/>
            </a:pPr>
            <a:r>
              <a:t>Aditya Nagaraj</a:t>
            </a:r>
          </a:p>
          <a:p>
            <a:pPr>
              <a:defRPr sz="2000"/>
            </a:pPr>
            <a:r>
              <a:t>Generation Eval &amp; LLM-as-a-Judge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Manual SEC filing analysis is slow and hard to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 Statement</a:t>
            </a:r>
          </a:p>
          <a:p>
            <a:pPr>
              <a:defRPr sz="2000"/>
            </a:pPr>
            <a:r>
              <a:t>Pain Point</a:t>
            </a:r>
          </a:p>
          <a:p>
            <a:pPr>
              <a:defRPr sz="2000"/>
            </a:pPr>
            <a:r>
              <a:t>10-K and 10-Q filings are long, dense, and time-consuming to read manually.</a:t>
            </a:r>
          </a:p>
          <a:p>
            <a:pPr>
              <a:defRPr sz="2000"/>
            </a:pPr>
            <a:r>
              <a:t>Risk</a:t>
            </a:r>
          </a:p>
          <a:p>
            <a:pPr>
              <a:defRPr sz="2000"/>
            </a:pPr>
            <a:r>
              <a:t>Manual summaries can miss details and usually do not preserve page-level traceability.</a:t>
            </a:r>
          </a:p>
          <a:p>
            <a:pPr>
              <a:defRPr sz="2000"/>
            </a:pPr>
            <a:r>
              <a:t>Goal</a:t>
            </a:r>
          </a:p>
          <a:p>
            <a:pPr>
              <a:defRPr sz="2000"/>
            </a:pPr>
            <a:r>
              <a:t>Support natural-language questions over filings with grounded answers and inline page citations.</a:t>
            </a:r>
          </a:p>
          <a:p>
            <a:pPr>
              <a:defRPr sz="2000"/>
            </a:pPr>
            <a:r>
              <a:t>Approach</a:t>
            </a:r>
          </a:p>
          <a:p>
            <a:pPr>
              <a:defRPr sz="2000"/>
            </a:pPr>
            <a:r>
              <a:t>Use a RAG pipeline combining semantic retrieval, metadata filters, and controlled LLM prompting.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End-to-end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System Architecture</a:t>
            </a:r>
          </a:p>
          <a:p>
            <a:pPr>
              <a:defRPr sz="2000"/>
            </a:pPr>
            <a:r>
              <a:t>PDF ingestion</a:t>
            </a:r>
          </a:p>
          <a:p>
            <a:pPr>
              <a:defRPr sz="2000"/>
            </a:pPr>
            <a:r>
              <a:t>Chunking</a:t>
            </a:r>
          </a:p>
          <a:p>
            <a:pPr>
              <a:defRPr sz="2000"/>
            </a:pPr>
            <a:r>
              <a:t>Bedrock embeddings</a:t>
            </a:r>
          </a:p>
          <a:p>
            <a:pPr>
              <a:defRPr sz="2000"/>
            </a:pPr>
            <a:r>
              <a:t>Qdrant retrieval</a:t>
            </a:r>
          </a:p>
          <a:p>
            <a:pPr>
              <a:defRPr sz="2000"/>
            </a:pPr>
            <a:r>
              <a:t>LLM generation</a:t>
            </a:r>
          </a:p>
          <a:p>
            <a:pPr>
              <a:defRPr sz="2000"/>
            </a:pPr>
            <a:r>
              <a:t>Cited answer</a:t>
            </a:r>
          </a:p>
          <a:p>
            <a:pPr>
              <a:defRPr sz="2000"/>
            </a:pPr>
            <a:r>
              <a:t>Metadata filters</a:t>
            </a:r>
          </a:p>
          <a:p>
            <a:pPr>
              <a:defRPr sz="2000"/>
            </a:pPr>
            <a:r>
              <a:t>company, filing_year, filing_type</a:t>
            </a:r>
          </a:p>
          <a:p>
            <a:pPr>
              <a:defRPr sz="2000"/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Chunking is designed to preserve financial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Chunking &amp; Retrieval</a:t>
            </a:r>
          </a:p>
          <a:p>
            <a:pPr>
              <a:defRPr sz="2000"/>
            </a:pPr>
            <a:r>
              <a:t>Paragraph-first extraction from the PDF.</a:t>
            </a:r>
          </a:p>
          <a:p>
            <a:pPr>
              <a:defRPr sz="2000"/>
            </a:pPr>
            <a:r>
              <a:t>Adjacent related paragraphs merged into semantic chunks.</a:t>
            </a:r>
          </a:p>
          <a:p>
            <a:pPr>
              <a:defRPr sz="2000"/>
            </a:pPr>
            <a:r>
              <a:t>Each chunk stores page-span metadata.</a:t>
            </a:r>
          </a:p>
          <a:p>
            <a:pPr>
              <a:defRPr sz="2000"/>
            </a:pPr>
            <a:r>
              <a:t>Preserves multi-paragraph financial discussion.</a:t>
            </a:r>
          </a:p>
          <a:p>
            <a:pPr>
              <a:defRPr sz="2000"/>
            </a:pPr>
            <a:r>
              <a:t>Helps avoid broken context around metrics and disclosures.</a:t>
            </a:r>
          </a:p>
          <a:p>
            <a:pPr>
              <a:defRPr sz="2000"/>
            </a:pPr>
            <a:r>
              <a:t>Enables traceable inline citations in final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Three prompt modes support different question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Prompting Strategies</a:t>
            </a:r>
          </a:p>
          <a:p>
            <a:pPr>
              <a:defRPr sz="2000"/>
            </a:pPr>
            <a:r>
              <a:t>Standard</a:t>
            </a:r>
          </a:p>
          <a:p>
            <a:pPr>
              <a:defRPr sz="2000"/>
            </a:pPr>
            <a:r>
              <a:t>Grounded question answering with inline citations.</a:t>
            </a:r>
          </a:p>
          <a:p>
            <a:pPr>
              <a:defRPr sz="2000"/>
            </a:pPr>
            <a:r>
              <a:t>Comparison</a:t>
            </a:r>
          </a:p>
          <a:p>
            <a:pPr>
              <a:defRPr sz="2000"/>
            </a:pPr>
            <a:r>
              <a:t>Structured reasoning for comparing periods, firms, or disclosures.</a:t>
            </a:r>
          </a:p>
          <a:p>
            <a:pPr>
              <a:defRPr sz="2000"/>
            </a:pPr>
            <a:r>
              <a:t>Extraction</a:t>
            </a:r>
          </a:p>
          <a:p>
            <a:pPr>
              <a:defRPr sz="2000"/>
            </a:pPr>
            <a:r>
              <a:t>Strict JSON output validated in code, not just by prompt wording.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We evaluate retrieval and generation separately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Evaluation Framework</a:t>
            </a:r>
          </a:p>
          <a:p>
            <a:pPr>
              <a:defRPr sz="2000"/>
            </a:pPr>
            <a:r>
              <a:t>Retrieval evaluation</a:t>
            </a:r>
          </a:p>
          <a:p>
            <a:pPr>
              <a:defRPr sz="2000"/>
            </a:pPr>
            <a:r>
              <a:t>Recall@5</a:t>
            </a:r>
          </a:p>
          <a:p>
            <a:pPr>
              <a:defRPr sz="2000"/>
            </a:pPr>
            <a:r>
              <a:t>Context Precision</a:t>
            </a:r>
          </a:p>
          <a:p>
            <a:pPr>
              <a:defRPr sz="2000"/>
            </a:pPr>
            <a:r>
              <a:t>MRR</a:t>
            </a:r>
          </a:p>
          <a:p>
            <a:pPr>
              <a:defRPr sz="2000"/>
            </a:pPr>
            <a:r>
              <a:t>Generation evaluation</a:t>
            </a:r>
          </a:p>
          <a:p>
            <a:pPr>
              <a:defRPr sz="2000"/>
            </a:pPr>
            <a:r>
              <a:t>LLM-as-a-Judge scoring</a:t>
            </a:r>
          </a:p>
          <a:p>
            <a:pPr>
              <a:defRPr sz="2000"/>
            </a:pPr>
            <a:r>
              <a:t>Factual accuracy, citation quality, hallucination penalty</a:t>
            </a:r>
          </a:p>
          <a:p>
            <a:pPr>
              <a:defRPr sz="2000"/>
            </a:pPr>
            <a:r>
              <a:t>Parse / validate / repair telemetry for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Two independent golden question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 Setup</a:t>
            </a:r>
          </a:p>
          <a:p>
            <a:pPr>
              <a:defRPr sz="2000"/>
            </a:pPr>
            <a:r>
              <a:t>25</a:t>
            </a:r>
          </a:p>
          <a:p>
            <a:pPr>
              <a:defRPr sz="2000"/>
            </a:pPr>
            <a:r>
              <a:t>Pratheek set (001–025)</a:t>
            </a:r>
          </a:p>
          <a:p>
            <a:pPr>
              <a:defRPr sz="2000"/>
            </a:pPr>
            <a:r>
              <a:t>Aditya set (021–045)</a:t>
            </a:r>
          </a:p>
          <a:p>
            <a:pPr>
              <a:defRPr sz="2000"/>
            </a:pPr>
            <a:r>
              <a:t>45</a:t>
            </a:r>
          </a:p>
          <a:p>
            <a:pPr>
              <a:defRPr sz="2000"/>
            </a:pPr>
            <a:r>
              <a:t>Retrieval rows used in reporting</a:t>
            </a:r>
          </a:p>
          <a:p>
            <a:pPr>
              <a:defRPr sz="2000"/>
            </a:pPr>
            <a:r>
              <a:t>50</a:t>
            </a:r>
          </a:p>
          <a:p>
            <a:pPr>
              <a:defRPr sz="2000"/>
            </a:pPr>
            <a:r>
              <a:t>Generation runs across both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Exact benchmark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Results</a:t>
            </a:r>
          </a:p>
          <a:p>
            <a:pPr>
              <a:defRPr sz="2000"/>
            </a:pPr>
            <a:r>
              <a:t>Retrieval metric</a:t>
            </a:r>
          </a:p>
          <a:p>
            <a:pPr>
              <a:defRPr sz="2000"/>
            </a:pPr>
            <a:r>
              <a:t>Value</a:t>
            </a:r>
          </a:p>
          <a:p>
            <a:pPr>
              <a:defRPr sz="2000"/>
            </a:pPr>
            <a:r>
              <a:t>Generation metric</a:t>
            </a:r>
          </a:p>
          <a:p>
            <a:pPr>
              <a:defRPr sz="2000"/>
            </a:pPr>
            <a:r>
              <a:t>Aditya</a:t>
            </a:r>
          </a:p>
          <a:p>
            <a:pPr>
              <a:defRPr sz="2000"/>
            </a:pPr>
            <a:r>
              <a:t>Pratheek</a:t>
            </a:r>
          </a:p>
          <a:p>
            <a:pPr>
              <a:defRPr sz="2000"/>
            </a:pPr>
            <a:r>
              <a:t>Recall@5</a:t>
            </a:r>
          </a:p>
          <a:p>
            <a:pPr>
              <a:defRPr sz="2000"/>
            </a:pPr>
            <a:r>
              <a:t>0.8889</a:t>
            </a:r>
          </a:p>
          <a:p>
            <a:pPr>
              <a:defRPr sz="2000"/>
            </a:pPr>
            <a:r>
              <a:t>Avg final score</a:t>
            </a:r>
          </a:p>
          <a:p>
            <a:pPr>
              <a:defRPr sz="2000"/>
            </a:pPr>
            <a:r>
              <a:t>91.6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What is done vs. what remains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Scope Review</a:t>
            </a:r>
          </a:p>
          <a:p>
            <a:pPr>
              <a:defRPr sz="2000"/>
            </a:pPr>
            <a:r>
              <a:t>Done</a:t>
            </a:r>
          </a:p>
          <a:p>
            <a:pPr>
              <a:defRPr sz="2000"/>
            </a:pPr>
            <a:r>
              <a:t>End-to-end RAG system</a:t>
            </a:r>
          </a:p>
          <a:p>
            <a:pPr>
              <a:defRPr sz="2000"/>
            </a:pPr>
            <a:r>
              <a:t>Prompting modes implemented</a:t>
            </a:r>
          </a:p>
          <a:p>
            <a:pPr>
              <a:defRPr sz="2000"/>
            </a:pPr>
            <a:r>
              <a:t>Retrieval and generation evaluation pipelines</a:t>
            </a:r>
          </a:p>
          <a:p>
            <a:pPr>
              <a:defRPr sz="2000"/>
            </a:pPr>
            <a:r>
              <a:t>Full benchmark runs completed</a:t>
            </a:r>
          </a:p>
          <a:p>
            <a:pPr>
              <a:defRPr sz="2000"/>
            </a:pPr>
            <a:r>
              <a:t>Pending</a:t>
            </a:r>
          </a:p>
          <a:p>
            <a:pPr>
              <a:defRPr sz="2000"/>
            </a:pPr>
            <a:r>
              <a:t>Broader multi-company corpus</a:t>
            </a:r>
          </a:p>
          <a:p>
            <a:pPr>
              <a:defRPr sz="2000"/>
            </a:pPr>
            <a:r>
              <a:t>Retrieval precision improvements</a:t>
            </a:r>
          </a:p>
          <a:p>
            <a:pPr>
              <a:defRPr sz="2000"/>
            </a:pPr>
            <a:r>
              <a:t>Formal acceptance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Reliable grounded answering on the current corpus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Conclusion</a:t>
            </a:r>
          </a:p>
          <a:p>
            <a:pPr>
              <a:defRPr sz="2000"/>
            </a:pPr>
            <a:r>
              <a:t>Current status</a:t>
            </a:r>
          </a:p>
          <a:p>
            <a:pPr>
              <a:defRPr sz="2000"/>
            </a:pPr>
            <a:r>
              <a:t>System performs strongly on the present evaluation corpus with high citation quality.</a:t>
            </a:r>
          </a:p>
          <a:p>
            <a:pPr>
              <a:defRPr sz="2000"/>
            </a:pPr>
            <a:r>
              <a:t>Next step 1</a:t>
            </a:r>
          </a:p>
          <a:p>
            <a:pPr>
              <a:defRPr sz="2000"/>
            </a:pPr>
            <a:r>
              <a:t>Improve retrieval precision so fewer irrelevant chunks enter the final context window.</a:t>
            </a:r>
          </a:p>
          <a:p>
            <a:pPr>
              <a:defRPr sz="2000"/>
            </a:pPr>
            <a:r>
              <a:t>Next step 2</a:t>
            </a:r>
          </a:p>
          <a:p>
            <a:pPr>
              <a:defRPr sz="2000"/>
            </a:pPr>
            <a:r>
              <a:t>Expand filing coverage across more companies and reporting periods.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FE524 · High-Speed Financial Document RAG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