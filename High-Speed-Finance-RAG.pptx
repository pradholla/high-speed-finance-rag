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FE524 Presentation  ·  Stevens Institute of Technology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4048" y="640080"/>
            <a:ext cx="74980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High-Speed Financial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RAG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84048" y="25603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citation-grounded question answering system for SEC filings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4048" y="29992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github.com/PradHolla/High-Speed-Finance-RAG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84048" y="3474720"/>
            <a:ext cx="8375904" cy="0"/>
          </a:xfrm>
          <a:prstGeom prst="line">
            <a:avLst/>
          </a:prstGeom>
          <a:noFill/>
          <a:ln w="12700">
            <a:solidFill>
              <a:srgbClr val="1E3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3602736"/>
            <a:ext cx="2039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Pradhyumna Nagaraja Holla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3904488"/>
            <a:ext cx="2039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 &amp; Data Pipeline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478024" y="3602736"/>
            <a:ext cx="2039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Pallavi Maralla Satish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78024" y="3904488"/>
            <a:ext cx="2039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Generation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0" y="3602736"/>
            <a:ext cx="2039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Pratheek Prakash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3904488"/>
            <a:ext cx="2039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Evaluation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665976" y="3602736"/>
            <a:ext cx="2039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Nagaraj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65976" y="3904488"/>
            <a:ext cx="2039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Eval &amp; LLM-as-a-Judge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375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521208"/>
            <a:ext cx="8375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SEC Filing Analysis is Slow and Hard to Verify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84048" y="1508760"/>
            <a:ext cx="41148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F5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508760"/>
            <a:ext cx="50292" cy="14813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27632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11096"/>
            <a:ext cx="391363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10-K and 10-Q filings are long, dense, and time-consuming to read manually.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45152" y="1508760"/>
            <a:ext cx="41148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F5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45152" y="1508760"/>
            <a:ext cx="50292" cy="148132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4024" y="1627632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64024" y="1911096"/>
            <a:ext cx="391363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summaries can miss details and do not preserve page-level traceability.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3108960"/>
            <a:ext cx="41148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F5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3108960"/>
            <a:ext cx="50292" cy="14813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227832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511296"/>
            <a:ext cx="391363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natural-language questions with grounded answers and inline page citations.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45152" y="3108960"/>
            <a:ext cx="41148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F5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45152" y="3108960"/>
            <a:ext cx="50292" cy="148132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4024" y="3227832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64024" y="3511296"/>
            <a:ext cx="391363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combining semantic retrieval, metadata filters, and controlled LLM prompting.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375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521208"/>
            <a:ext cx="8375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45236" y="1554480"/>
            <a:ext cx="1207008" cy="804672"/>
          </a:xfrm>
          <a:prstGeom prst="rect">
            <a:avLst/>
          </a:prstGeom>
          <a:solidFill>
            <a:srgbClr val="080E1E"/>
          </a:solidFill>
          <a:ln w="12700">
            <a:solidFill>
              <a:srgbClr val="080E1E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5236" y="1554480"/>
            <a:ext cx="12070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52244" y="1920240"/>
            <a:ext cx="82296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34540" y="1554480"/>
            <a:ext cx="1207008" cy="8046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34540" y="1554480"/>
            <a:ext cx="12070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1548" y="1920240"/>
            <a:ext cx="82296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23844" y="1554480"/>
            <a:ext cx="1207008" cy="8046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23844" y="1554480"/>
            <a:ext cx="12070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30852" y="1920240"/>
            <a:ext cx="82296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3148" y="1554480"/>
            <a:ext cx="1207008" cy="8046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3148" y="1554480"/>
            <a:ext cx="12070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20156" y="1920240"/>
            <a:ext cx="82296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02452" y="1554480"/>
            <a:ext cx="1207008" cy="8046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02452" y="1554480"/>
            <a:ext cx="12070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09460" y="1920240"/>
            <a:ext cx="82296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91756" y="1554480"/>
            <a:ext cx="1207008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91756" y="1554480"/>
            <a:ext cx="12070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" y="2523744"/>
            <a:ext cx="8375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Filters:  company  ·  filing_year  ·  filing_type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" y="2871216"/>
            <a:ext cx="4105656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F5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2871216"/>
            <a:ext cx="50292" cy="193852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971800"/>
            <a:ext cx="3922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291840"/>
            <a:ext cx="392277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with Dockerized deployment for scalable, reproducible inference.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54296" y="2871216"/>
            <a:ext cx="4105656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F5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54296" y="2871216"/>
            <a:ext cx="50292" cy="19385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2971800"/>
            <a:ext cx="3922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73168" y="3291840"/>
            <a:ext cx="392277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UI for asking questions and viewing cited answers with page-level references.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375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&amp; RETRIEVAL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521208"/>
            <a:ext cx="8375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is Designed to Preserve Financial Meaning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84048" y="1444752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F5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444752"/>
            <a:ext cx="50292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64208"/>
            <a:ext cx="420624" cy="42062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642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" y="1554480"/>
            <a:ext cx="33467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Paragraph-first extraction from the PDF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45152" y="1444752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F5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1444752"/>
            <a:ext cx="50292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64024" y="1664208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4024" y="16642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85232" y="1554480"/>
            <a:ext cx="33467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multi-paragraph financial discussion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25146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F5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514600"/>
            <a:ext cx="50292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734056"/>
            <a:ext cx="420624" cy="42062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340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2624328"/>
            <a:ext cx="33467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related paragraphs merged into semantic chunks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45152" y="25146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F5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45152" y="2514600"/>
            <a:ext cx="50292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64024" y="2734056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4024" y="27340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85232" y="2624328"/>
            <a:ext cx="33467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avoid broken context around metrics and disclosures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84048" y="3584448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F5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3584448"/>
            <a:ext cx="50292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803904"/>
            <a:ext cx="420624" cy="42062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8039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3694176"/>
            <a:ext cx="33467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stores page-span metadata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45152" y="3584448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F5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45152" y="3584448"/>
            <a:ext cx="50292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64024" y="3803904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64024" y="38039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85232" y="3694176"/>
            <a:ext cx="33467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traceable inline citations in final answers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375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STRATEGIES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521208"/>
            <a:ext cx="8375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Prompt Modes Support Different Question Types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84048" y="1572768"/>
            <a:ext cx="273710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F5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572768"/>
            <a:ext cx="2737104" cy="43891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572768"/>
            <a:ext cx="27371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2121408"/>
            <a:ext cx="2508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Q&amp;A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2542032"/>
            <a:ext cx="250850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with inline citations pointing to specific pages in the source filing. Default mode for most questions.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3448" y="1572768"/>
            <a:ext cx="273710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F5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3448" y="1572768"/>
            <a:ext cx="2737104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3448" y="1572768"/>
            <a:ext cx="27371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31464" y="2121408"/>
            <a:ext cx="2508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Reasoning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1464" y="2542032"/>
            <a:ext cx="250850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comparison across reporting periods, companies, or disclosure categories — formatted for clarity.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22848" y="1572768"/>
            <a:ext cx="273710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F5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22848" y="1572768"/>
            <a:ext cx="2737104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22848" y="1572768"/>
            <a:ext cx="27371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50864" y="2121408"/>
            <a:ext cx="2508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JSON Output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50864" y="2542032"/>
            <a:ext cx="250850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Schema-validated JSON output enforced in code, not just by prompt wording — for reliable downstream processing.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375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521208"/>
            <a:ext cx="8375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Evaluate Retrieval and Generation Separately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84048" y="1508760"/>
            <a:ext cx="4096512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F5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508760"/>
            <a:ext cx="4096512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508760"/>
            <a:ext cx="3895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Evaluation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85416"/>
            <a:ext cx="64008" cy="6400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 — fraction of relevant documents retrieved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843784"/>
            <a:ext cx="64008" cy="6400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76148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 — quality of retrieved chunks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502152"/>
            <a:ext cx="64008" cy="6400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341985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— Mean Reciprocal Rank of correct document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4096512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F5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508760"/>
            <a:ext cx="4096512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08760"/>
            <a:ext cx="3895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Evaluation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28032" y="2185416"/>
            <a:ext cx="64008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 scoring pipeline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28032" y="2843784"/>
            <a:ext cx="64008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76148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accuracy &amp; citation quality metrics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28032" y="3502152"/>
            <a:ext cx="64008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41985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penalty  (lower = better)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28032" y="4160520"/>
            <a:ext cx="64008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407822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/ validate / repair telemetry for reliability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375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SETUP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521208"/>
            <a:ext cx="8375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Datasets, Collection Method, and Usage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84048" y="1508760"/>
            <a:ext cx="410565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F5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508760"/>
            <a:ext cx="50292" cy="23317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9344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Datasets Contain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947672"/>
            <a:ext cx="3904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25-question JSONL benchmark sets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3904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Pratheek set: IDs 001–025  ·  Aditya set: IDs 021–045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898648"/>
            <a:ext cx="3904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row: question, expected answer, source pages, retrieval keywords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54296" y="1508760"/>
            <a:ext cx="410565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F5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4296" y="1508760"/>
            <a:ext cx="50292" cy="2331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609344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Was Collected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73168" y="1947672"/>
            <a:ext cx="3904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generated with LLM assistance (GPT 5.4 &amp; Sonnet 4.6)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73168" y="2423160"/>
            <a:ext cx="3904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structured into JSONL benchmark rows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73168" y="2898648"/>
            <a:ext cx="3904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facts validated against Microsoft 2025 10-K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73168" y="3374136"/>
            <a:ext cx="3904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files maintained for ownership split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3968496"/>
            <a:ext cx="2682240" cy="896112"/>
          </a:xfrm>
          <a:prstGeom prst="rect">
            <a:avLst/>
          </a:prstGeom>
          <a:solidFill>
            <a:srgbClr val="080E1E"/>
          </a:solidFill>
          <a:ln w="12700">
            <a:solidFill>
              <a:srgbClr val="080E1E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" y="3977640"/>
            <a:ext cx="268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84048" y="4416552"/>
            <a:ext cx="268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in Retrieval Reporting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30880" y="3968496"/>
            <a:ext cx="2682240" cy="896112"/>
          </a:xfrm>
          <a:prstGeom prst="rect">
            <a:avLst/>
          </a:prstGeom>
          <a:solidFill>
            <a:srgbClr val="080E1E"/>
          </a:solidFill>
          <a:ln w="12700">
            <a:solidFill>
              <a:srgbClr val="080E1E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30880" y="3977640"/>
            <a:ext cx="268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230880" y="4416552"/>
            <a:ext cx="268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Evaluations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77712" y="3968496"/>
            <a:ext cx="2682240" cy="896112"/>
          </a:xfrm>
          <a:prstGeom prst="rect">
            <a:avLst/>
          </a:prstGeom>
          <a:solidFill>
            <a:srgbClr val="080E1E"/>
          </a:solidFill>
          <a:ln w="12700">
            <a:solidFill>
              <a:srgbClr val="080E1E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77712" y="3977640"/>
            <a:ext cx="268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077712" y="4416552"/>
            <a:ext cx="268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Benchmark Files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375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521208"/>
            <a:ext cx="8375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Benchmark Metrics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84048" y="1389888"/>
            <a:ext cx="2011680" cy="484632"/>
          </a:xfrm>
          <a:prstGeom prst="rect">
            <a:avLst/>
          </a:prstGeom>
          <a:solidFill>
            <a:srgbClr val="080E1E"/>
          </a:solidFill>
          <a:ln w="12700">
            <a:solidFill>
              <a:srgbClr val="080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89888"/>
            <a:ext cx="19019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Metric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395728" y="1389888"/>
            <a:ext cx="1051560" cy="484632"/>
          </a:xfrm>
          <a:prstGeom prst="rect">
            <a:avLst/>
          </a:prstGeom>
          <a:solidFill>
            <a:srgbClr val="080E1E"/>
          </a:solidFill>
          <a:ln w="12700">
            <a:solidFill>
              <a:srgbClr val="080E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1389888"/>
            <a:ext cx="9418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47288" y="1389888"/>
            <a:ext cx="2286000" cy="484632"/>
          </a:xfrm>
          <a:prstGeom prst="rect">
            <a:avLst/>
          </a:prstGeom>
          <a:solidFill>
            <a:srgbClr val="080E1E"/>
          </a:solidFill>
          <a:ln w="12700">
            <a:solidFill>
              <a:srgbClr val="080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389888"/>
            <a:ext cx="21762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Metric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33288" y="1389888"/>
            <a:ext cx="1188720" cy="484632"/>
          </a:xfrm>
          <a:prstGeom prst="rect">
            <a:avLst/>
          </a:prstGeom>
          <a:solidFill>
            <a:srgbClr val="080E1E"/>
          </a:solidFill>
          <a:ln w="12700">
            <a:solidFill>
              <a:srgbClr val="080E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1389888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22008" y="1389888"/>
            <a:ext cx="1188720" cy="484632"/>
          </a:xfrm>
          <a:prstGeom prst="rect">
            <a:avLst/>
          </a:prstGeom>
          <a:solidFill>
            <a:srgbClr val="080E1E"/>
          </a:solidFill>
          <a:ln w="12700">
            <a:solidFill>
              <a:srgbClr val="080E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1389888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Pratheek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1874520"/>
            <a:ext cx="2011680" cy="484632"/>
          </a:xfrm>
          <a:prstGeom prst="rect">
            <a:avLst/>
          </a:prstGeom>
          <a:solidFill>
            <a:srgbClr val="F2F6FF"/>
          </a:solidFill>
          <a:ln w="6350">
            <a:solidFill>
              <a:srgbClr val="C7D9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874520"/>
            <a:ext cx="19019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95728" y="1874520"/>
            <a:ext cx="1051560" cy="484632"/>
          </a:xfrm>
          <a:prstGeom prst="rect">
            <a:avLst/>
          </a:prstGeom>
          <a:solidFill>
            <a:srgbClr val="DBEAFE"/>
          </a:solidFill>
          <a:ln w="6350">
            <a:solidFill>
              <a:srgbClr val="C7D9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1874520"/>
            <a:ext cx="9418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0.8889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47288" y="1874520"/>
            <a:ext cx="2286000" cy="484632"/>
          </a:xfrm>
          <a:prstGeom prst="rect">
            <a:avLst/>
          </a:prstGeom>
          <a:solidFill>
            <a:srgbClr val="F2F6FF"/>
          </a:solidFill>
          <a:ln w="6350">
            <a:solidFill>
              <a:srgbClr val="C7D9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1874520"/>
            <a:ext cx="21762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Final Score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33288" y="1874520"/>
            <a:ext cx="1188720" cy="484632"/>
          </a:xfrm>
          <a:prstGeom prst="rect">
            <a:avLst/>
          </a:prstGeom>
          <a:solidFill>
            <a:srgbClr val="F2F6FF"/>
          </a:solidFill>
          <a:ln w="6350">
            <a:solidFill>
              <a:srgbClr val="C7D9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1874520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22008" y="1874520"/>
            <a:ext cx="1188720" cy="484632"/>
          </a:xfrm>
          <a:prstGeom prst="rect">
            <a:avLst/>
          </a:prstGeom>
          <a:solidFill>
            <a:srgbClr val="F2F6FF"/>
          </a:solidFill>
          <a:ln w="6350">
            <a:solidFill>
              <a:srgbClr val="C7D9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1874520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" y="2359152"/>
            <a:ext cx="201168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7D9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359152"/>
            <a:ext cx="19019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95728" y="2359152"/>
            <a:ext cx="10515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7D9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2359152"/>
            <a:ext cx="9418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0.5156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47288" y="2359152"/>
            <a:ext cx="22860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7D9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2359152"/>
            <a:ext cx="21762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33288" y="2359152"/>
            <a:ext cx="11887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7D9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2359152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22008" y="2359152"/>
            <a:ext cx="11887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7D9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2359152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84048" y="2843784"/>
            <a:ext cx="2011680" cy="484632"/>
          </a:xfrm>
          <a:prstGeom prst="rect">
            <a:avLst/>
          </a:prstGeom>
          <a:solidFill>
            <a:srgbClr val="F2F6FF"/>
          </a:solidFill>
          <a:ln w="6350">
            <a:solidFill>
              <a:srgbClr val="C7D9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843784"/>
            <a:ext cx="19019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395728" y="2843784"/>
            <a:ext cx="1051560" cy="484632"/>
          </a:xfrm>
          <a:prstGeom prst="rect">
            <a:avLst/>
          </a:prstGeom>
          <a:solidFill>
            <a:srgbClr val="F2F6FF"/>
          </a:solidFill>
          <a:ln w="6350">
            <a:solidFill>
              <a:srgbClr val="C7D9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68880" y="2843784"/>
            <a:ext cx="9418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0.7889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447288" y="2843784"/>
            <a:ext cx="2286000" cy="484632"/>
          </a:xfrm>
          <a:prstGeom prst="rect">
            <a:avLst/>
          </a:prstGeom>
          <a:solidFill>
            <a:srgbClr val="F2F6FF"/>
          </a:solidFill>
          <a:ln w="6350">
            <a:solidFill>
              <a:srgbClr val="C7D9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2843784"/>
            <a:ext cx="21762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733288" y="2843784"/>
            <a:ext cx="1188720" cy="484632"/>
          </a:xfrm>
          <a:prstGeom prst="rect">
            <a:avLst/>
          </a:prstGeom>
          <a:solidFill>
            <a:srgbClr val="F2F6FF"/>
          </a:solidFill>
          <a:ln w="6350">
            <a:solidFill>
              <a:srgbClr val="C7D9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06440" y="2843784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22008" y="2843784"/>
            <a:ext cx="1188720" cy="484632"/>
          </a:xfrm>
          <a:prstGeom prst="rect">
            <a:avLst/>
          </a:prstGeom>
          <a:solidFill>
            <a:srgbClr val="F2F6FF"/>
          </a:solidFill>
          <a:ln w="6350">
            <a:solidFill>
              <a:srgbClr val="C7D9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95160" y="2843784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84048" y="3328416"/>
            <a:ext cx="201168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7D9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328416"/>
            <a:ext cx="19019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395728" y="3328416"/>
            <a:ext cx="10515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7D9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68880" y="3328416"/>
            <a:ext cx="9418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447288" y="3328416"/>
            <a:ext cx="22860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7D9F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20440" y="3328416"/>
            <a:ext cx="21762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733288" y="3328416"/>
            <a:ext cx="11887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7D9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06440" y="3328416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922008" y="3328416"/>
            <a:ext cx="11887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7D9F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95160" y="3328416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84048" y="3813048"/>
            <a:ext cx="2011680" cy="484632"/>
          </a:xfrm>
          <a:prstGeom prst="rect">
            <a:avLst/>
          </a:prstGeom>
          <a:solidFill>
            <a:srgbClr val="F2F6FF"/>
          </a:solidFill>
          <a:ln w="6350">
            <a:solidFill>
              <a:srgbClr val="C7D9F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813048"/>
            <a:ext cx="19019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395728" y="3813048"/>
            <a:ext cx="1051560" cy="484632"/>
          </a:xfrm>
          <a:prstGeom prst="rect">
            <a:avLst/>
          </a:prstGeom>
          <a:solidFill>
            <a:srgbClr val="F2F6FF"/>
          </a:solidFill>
          <a:ln w="6350">
            <a:solidFill>
              <a:srgbClr val="C7D9F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68880" y="3813048"/>
            <a:ext cx="94183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447288" y="3813048"/>
            <a:ext cx="2286000" cy="484632"/>
          </a:xfrm>
          <a:prstGeom prst="rect">
            <a:avLst/>
          </a:prstGeom>
          <a:solidFill>
            <a:srgbClr val="F2F6FF"/>
          </a:solidFill>
          <a:ln w="6350">
            <a:solidFill>
              <a:srgbClr val="C7D9F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520440" y="3813048"/>
            <a:ext cx="21762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Failure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733288" y="3813048"/>
            <a:ext cx="1188720" cy="484632"/>
          </a:xfrm>
          <a:prstGeom prst="rect">
            <a:avLst/>
          </a:prstGeom>
          <a:solidFill>
            <a:srgbClr val="F2F6FF"/>
          </a:solidFill>
          <a:ln w="6350">
            <a:solidFill>
              <a:srgbClr val="C7D9F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06440" y="3813048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922008" y="3813048"/>
            <a:ext cx="1188720" cy="484632"/>
          </a:xfrm>
          <a:prstGeom prst="rect">
            <a:avLst/>
          </a:prstGeom>
          <a:solidFill>
            <a:srgbClr val="F2F6FF"/>
          </a:solidFill>
          <a:ln w="6350">
            <a:solidFill>
              <a:srgbClr val="C7D9F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95160" y="3813048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375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REVIEW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521208"/>
            <a:ext cx="8375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Done vs. What Remains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84048" y="1508760"/>
            <a:ext cx="4096512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F5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508760"/>
            <a:ext cx="50292" cy="3337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4340" y="1508760"/>
            <a:ext cx="4046220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08760"/>
            <a:ext cx="3867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0352" y="203911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RAG system fully functional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" y="254203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prompting modes implemented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0352" y="304495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evaluation pipeline complete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0352" y="354787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evaluation pipeline complete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0352" y="405079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benchmark runs completed on both datasets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4096512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9F5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508760"/>
            <a:ext cx="50292" cy="3337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13732" y="1508760"/>
            <a:ext cx="404622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1508760"/>
            <a:ext cx="3867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Pending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09744" y="2039112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multi-company corpus expansion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9744" y="2587752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precision improvements needed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9744" y="3136392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acceptance thresholds to be defined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9744" y="3685032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error-analysis appendix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84048" y="521208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Grounded Answering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Current Corpus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84048" y="2075688"/>
            <a:ext cx="2737104" cy="2834640"/>
          </a:xfrm>
          <a:prstGeom prst="rect">
            <a:avLst/>
          </a:prstGeom>
          <a:solidFill>
            <a:srgbClr val="0D1C38"/>
          </a:solidFill>
          <a:ln w="12700">
            <a:solidFill>
              <a:srgbClr val="1E3A6A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2075688"/>
            <a:ext cx="2737104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2075688"/>
            <a:ext cx="2554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3776" y="2587752"/>
            <a:ext cx="255422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performs strongly on the evaluation corpus with high citation quality and minimal hallucination.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3448" y="2075688"/>
            <a:ext cx="2737104" cy="2834640"/>
          </a:xfrm>
          <a:prstGeom prst="rect">
            <a:avLst/>
          </a:prstGeom>
          <a:solidFill>
            <a:srgbClr val="0D1C38"/>
          </a:solidFill>
          <a:ln w="12700">
            <a:solidFill>
              <a:srgbClr val="1E3A6A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3448" y="2075688"/>
            <a:ext cx="2737104" cy="4114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3176" y="2075688"/>
            <a:ext cx="2554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 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13176" y="2587752"/>
            <a:ext cx="255422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retrieval precision so fewer irrelevant chunks enter the final context window.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2848" y="2075688"/>
            <a:ext cx="2737104" cy="2834640"/>
          </a:xfrm>
          <a:prstGeom prst="rect">
            <a:avLst/>
          </a:prstGeom>
          <a:solidFill>
            <a:srgbClr val="0D1C38"/>
          </a:solidFill>
          <a:ln w="12700">
            <a:solidFill>
              <a:srgbClr val="1E3A6A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22848" y="2075688"/>
            <a:ext cx="2737104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32576" y="2075688"/>
            <a:ext cx="2554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 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32576" y="2587752"/>
            <a:ext cx="255422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filing coverage across more companies and reporting periods for broader evaluation.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2026-05-15T02:00:07Z</dcterms:created>
  <dcterms:modified xsi:type="dcterms:W3CDTF">2026-05-15T02:00:07Z</dcterms:modified>
</cp:coreProperties>
</file>